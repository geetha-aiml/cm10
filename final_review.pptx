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80" r:id="rId3"/>
    <p:sldId id="257" r:id="rId4"/>
    <p:sldId id="258" r:id="rId5"/>
    <p:sldId id="259" r:id="rId6"/>
    <p:sldId id="271" r:id="rId7"/>
    <p:sldId id="269" r:id="rId8"/>
    <p:sldId id="270" r:id="rId9"/>
    <p:sldId id="262" r:id="rId10"/>
    <p:sldId id="278" r:id="rId11"/>
    <p:sldId id="279" r:id="rId12"/>
    <p:sldId id="273" r:id="rId13"/>
    <p:sldId id="276" r:id="rId14"/>
    <p:sldId id="277" r:id="rId15"/>
    <p:sldId id="274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854" autoAdjust="0"/>
    <p:restoredTop sz="94080" autoAdjust="0"/>
  </p:normalViewPr>
  <p:slideViewPr>
    <p:cSldViewPr snapToGrid="0" snapToObjects="1">
      <p:cViewPr varScale="1">
        <p:scale>
          <a:sx n="93" d="100"/>
          <a:sy n="93" d="100"/>
        </p:scale>
        <p:origin x="3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85474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E63D6-6A6B-896D-DEF8-A708E8F03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630D79-794A-2EE4-1E1A-3632F63BE5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4E3C8E-88A3-35A0-7735-E0681E5660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931F0E-6F7E-3CC6-BF50-C5975E0955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9358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17D440-9D80-1DA3-ADFB-E168D5416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B9C6CA-0F57-CA61-AEE8-AFF55782B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43248-17CB-7C8E-0925-31C32AEDF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A526F1-F77A-D3BF-DD4C-13DDF9217E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91120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C17B4-923F-D4C9-4740-70B804F21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23692-D69D-4F7B-8EB8-9F29227688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2AD0F2-C2DE-80B6-F205-4C0691D6C1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4A9D93-45B3-D89A-F1F6-14744E8453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2756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86868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Diffusion-Enhanced Brain Tumor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 Using Fast-DDPM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48640" y="213055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5AAD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EfficientNet-B0 on MRI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48640" y="2852928"/>
            <a:ext cx="8046720" cy="0"/>
          </a:xfrm>
          <a:prstGeom prst="line">
            <a:avLst/>
          </a:prstGeom>
          <a:noFill/>
          <a:ln w="19050">
            <a:solidFill>
              <a:srgbClr val="1B4F8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864608"/>
            <a:ext cx="9144000" cy="0"/>
          </a:xfrm>
          <a:prstGeom prst="line">
            <a:avLst/>
          </a:prstGeom>
          <a:noFill/>
          <a:ln w="12700">
            <a:solidFill>
              <a:srgbClr val="1B4F8A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14375" y="3387923"/>
            <a:ext cx="1048300" cy="2051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r>
              <a:rPr lang="en-US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  <a:endParaRPr lang="en-US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14375" y="3764756"/>
            <a:ext cx="2425344" cy="1661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D.BHAGAVATH GEETHA (Y22ACM424</a:t>
            </a:r>
            <a:r>
              <a:rPr lang="en-US" sz="1050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6"/>
          <p:cNvSpPr/>
          <p:nvPr/>
        </p:nvSpPr>
        <p:spPr>
          <a:xfrm>
            <a:off x="714375" y="4645731"/>
            <a:ext cx="2082301" cy="1661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B.NAGA SUMANTH (Y22ACM409)</a:t>
            </a:r>
          </a:p>
        </p:txBody>
      </p:sp>
      <p:sp>
        <p:nvSpPr>
          <p:cNvPr id="34" name="Text 4"/>
          <p:cNvSpPr/>
          <p:nvPr/>
        </p:nvSpPr>
        <p:spPr>
          <a:xfrm>
            <a:off x="715084" y="4076617"/>
            <a:ext cx="2497479" cy="1661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B.JAYA LAKSHMI TULASI (Y22ACM415)</a:t>
            </a:r>
          </a:p>
        </p:txBody>
      </p:sp>
      <p:sp>
        <p:nvSpPr>
          <p:cNvPr id="35" name="Text 5"/>
          <p:cNvSpPr/>
          <p:nvPr/>
        </p:nvSpPr>
        <p:spPr>
          <a:xfrm>
            <a:off x="714375" y="4370094"/>
            <a:ext cx="2231380" cy="1661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r>
              <a:rPr lang="en-US" sz="105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K.VIRENDRA KUMAR (Y22ACM437)</a:t>
            </a:r>
          </a:p>
        </p:txBody>
      </p:sp>
      <p:sp>
        <p:nvSpPr>
          <p:cNvPr id="37" name="Text 7"/>
          <p:cNvSpPr/>
          <p:nvPr/>
        </p:nvSpPr>
        <p:spPr>
          <a:xfrm>
            <a:off x="6078158" y="3467435"/>
            <a:ext cx="2185060" cy="205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00"/>
              </a:lnSpc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</a:t>
            </a:r>
            <a:r>
              <a:rPr lang="en-US" sz="1600" b="1" dirty="0">
                <a:solidFill>
                  <a:srgbClr val="0B1E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8"/>
          <p:cNvSpPr/>
          <p:nvPr/>
        </p:nvSpPr>
        <p:spPr>
          <a:xfrm>
            <a:off x="6227262" y="3868474"/>
            <a:ext cx="1672478" cy="2248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900"/>
              </a:lnSpc>
            </a:pPr>
            <a:r>
              <a:rPr lang="en-US" sz="1400" b="1" dirty="0">
                <a:solidFill>
                  <a:srgbClr val="5DADE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K. Mani Deep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32745-BED7-DDF6-2DFF-6510F1B8B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C81FF09E-E969-5C41-FE86-2D90AB5AB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-900000">
            <a:off x="7358063" y="-357188"/>
            <a:ext cx="2143125" cy="21431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31E9740-AB30-0A15-B54B-0D8AE2D20BC6}"/>
              </a:ext>
            </a:extLst>
          </p:cNvPr>
          <p:cNvSpPr txBox="1"/>
          <p:nvPr/>
        </p:nvSpPr>
        <p:spPr>
          <a:xfrm>
            <a:off x="613523" y="499746"/>
            <a:ext cx="4871196" cy="508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600" b="1" dirty="0">
                <a:solidFill>
                  <a:srgbClr val="21252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64C8B80-4787-2C51-BF5A-C0E7021D3D13}"/>
              </a:ext>
            </a:extLst>
          </p:cNvPr>
          <p:cNvSpPr txBox="1"/>
          <p:nvPr/>
        </p:nvSpPr>
        <p:spPr>
          <a:xfrm>
            <a:off x="622029" y="1278604"/>
            <a:ext cx="703785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kumimoji="0" lang="en-US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endParaRPr kumimoji="0" lang="en-US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</a:t>
            </a:r>
            <a:endParaRPr kumimoji="0" lang="en-US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  <a:endParaRPr kumimoji="0" lang="en-US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  <a:endParaRPr kumimoji="0" lang="en-US" altLang="en-US" sz="240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2393963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Abstract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68680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1389888"/>
            <a:ext cx="73152" cy="2743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84B3CB-312B-6143-29AE-E4A9FE4A495A}"/>
              </a:ext>
            </a:extLst>
          </p:cNvPr>
          <p:cNvSpPr txBox="1"/>
          <p:nvPr/>
        </p:nvSpPr>
        <p:spPr>
          <a:xfrm>
            <a:off x="610768" y="1153571"/>
            <a:ext cx="75188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 rtl="0" eaLnBrk="0" fontAlgn="base" latinLnBrk="0" hangingPunct="0">
              <a:buNone/>
            </a:pPr>
            <a:r>
              <a:rPr lang="en-US" sz="16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Noise in Magnetic Resonance Imaging (MRI) reduces image clarity and negatively impacts automated brain tumor classification. This work proposes a diffusion-enhanced framework combining Fast-DDPM denoising with EfficientNet-B0 to improve classification performance. A dual-branch evaluation pipeline is designed to measure the effect of diffusion-based preprocessing. In the first branch, original noisy MRI images are classified using EfficientNet-B0 to establish a baseline. In the second branch, the same images are enhanced using Fast-DDPM and then classified using the identical EfficientNet-B0 </a:t>
            </a:r>
            <a:r>
              <a:rPr lang="en-US" sz="1600" b="0" i="0" kern="120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model.Results</a:t>
            </a:r>
            <a:r>
              <a:rPr lang="en-US" sz="16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show that the baseline model achieved </a:t>
            </a:r>
            <a:r>
              <a:rPr lang="en-US" sz="1600" b="1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63.73% accuracy</a:t>
            </a:r>
            <a:r>
              <a:rPr lang="en-US" sz="16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on original MRI images. After applying Fast-DDPM denoising, the enhanced branch achieved </a:t>
            </a:r>
            <a:r>
              <a:rPr lang="en-US" sz="1600" b="1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76.17% accuracy</a:t>
            </a:r>
            <a:r>
              <a:rPr lang="en-US" sz="16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, resulting in an </a:t>
            </a:r>
            <a:r>
              <a:rPr lang="en-US" sz="1600" b="1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absolute improvement of 12.44percentage points</a:t>
            </a:r>
            <a:r>
              <a:rPr lang="en-US" sz="1600" b="0" i="0" kern="120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. This gain is achieved without modifying the model architecture or training procedure. The study demonstrates that diffusion-based preprocessing can effectively improve MRI quality and enhance deep learning-based brain tumor classification performance.</a:t>
            </a:r>
            <a:endParaRPr lang="en-IN" sz="1600" dirty="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 Analysis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54864" cy="23774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6070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CURRENT WORKFLOW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92608" y="1426464"/>
            <a:ext cx="3950208" cy="457200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1389888"/>
            <a:ext cx="39502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389888"/>
            <a:ext cx="54864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" y="1481328"/>
            <a:ext cx="256032" cy="25603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481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01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8096" y="1426464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68096" y="160020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Noisy MRI Data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39496" y="1847088"/>
            <a:ext cx="45720" cy="109728"/>
          </a:xfrm>
          <a:prstGeom prst="rect">
            <a:avLst/>
          </a:prstGeom>
          <a:solidFill>
            <a:srgbClr val="94B4D4"/>
          </a:solidFill>
          <a:ln w="12700">
            <a:solidFill>
              <a:srgbClr val="94B4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92608" y="1993392"/>
            <a:ext cx="3950208" cy="457200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1956816"/>
            <a:ext cx="39502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1956816"/>
            <a:ext cx="54864" cy="457200"/>
          </a:xfrm>
          <a:prstGeom prst="rect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2048256"/>
            <a:ext cx="256032" cy="25603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204825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02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68096" y="19933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2563A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EXTRACT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68096" y="21671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 Feature Extraction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39496" y="2414016"/>
            <a:ext cx="45720" cy="109728"/>
          </a:xfrm>
          <a:prstGeom prst="rect">
            <a:avLst/>
          </a:prstGeom>
          <a:solidFill>
            <a:srgbClr val="94B4D4"/>
          </a:solidFill>
          <a:ln w="12700">
            <a:solidFill>
              <a:srgbClr val="94B4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92608" y="2560320"/>
            <a:ext cx="3950208" cy="457200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74320" y="2523744"/>
            <a:ext cx="39502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74320" y="2523744"/>
            <a:ext cx="54864" cy="457200"/>
          </a:xfrm>
          <a:prstGeom prst="rect">
            <a:avLst/>
          </a:prstGeom>
          <a:solidFill>
            <a:srgbClr val="3273B8"/>
          </a:solidFill>
          <a:ln w="12700">
            <a:solidFill>
              <a:srgbClr val="327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38912" y="2615184"/>
            <a:ext cx="256032" cy="256032"/>
          </a:xfrm>
          <a:prstGeom prst="ellipse">
            <a:avLst/>
          </a:prstGeom>
          <a:solidFill>
            <a:srgbClr val="3273B8"/>
          </a:solidFill>
          <a:ln w="12700">
            <a:solidFill>
              <a:srgbClr val="3273B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8912" y="261518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68096" y="25603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273B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68096" y="273405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CNN-based 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39496" y="2980944"/>
            <a:ext cx="45720" cy="109728"/>
          </a:xfrm>
          <a:prstGeom prst="rect">
            <a:avLst/>
          </a:prstGeom>
          <a:solidFill>
            <a:srgbClr val="94B4D4"/>
          </a:solidFill>
          <a:ln w="12700">
            <a:solidFill>
              <a:srgbClr val="94B4D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2608" y="3127248"/>
            <a:ext cx="3950208" cy="457200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4320" y="3090672"/>
            <a:ext cx="3950208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74320" y="3090672"/>
            <a:ext cx="54864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" y="3182112"/>
            <a:ext cx="256032" cy="256032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38912" y="31821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04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8096" y="3127248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68096" y="3300984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Direct Accuracy Score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274320" y="3657600"/>
            <a:ext cx="3950208" cy="566928"/>
          </a:xfrm>
          <a:prstGeom prst="rect">
            <a:avLst/>
          </a:prstGeom>
          <a:solidFill>
            <a:srgbClr val="EEF4FF"/>
          </a:solidFill>
          <a:ln w="12700">
            <a:solidFill>
              <a:srgbClr val="B8CDE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74320" y="3657600"/>
            <a:ext cx="54864" cy="566928"/>
          </a:xfrm>
          <a:prstGeom prst="rect">
            <a:avLst/>
          </a:prstGeom>
          <a:solidFill>
            <a:srgbClr val="94B4D4"/>
          </a:solidFill>
          <a:ln w="12700">
            <a:solidFill>
              <a:srgbClr val="94B4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2336" y="3675888"/>
            <a:ext cx="3749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The baseline trains deep learning models directly on raw, noisy clinical MRI scans without advanced structural restoration. Noise systematically limits performance.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4425696" y="1060704"/>
            <a:ext cx="0" cy="340156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3440" y="1060704"/>
            <a:ext cx="54864" cy="23774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91456" y="1060704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0392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CRITICAL LIMITATIONS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4681728" y="1426464"/>
            <a:ext cx="4169664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663440" y="1389888"/>
            <a:ext cx="4169664" cy="548640"/>
          </a:xfrm>
          <a:prstGeom prst="rect">
            <a:avLst/>
          </a:prstGeom>
          <a:solidFill>
            <a:srgbClr val="FEF2F2"/>
          </a:solidFill>
          <a:ln w="12700">
            <a:solidFill>
              <a:srgbClr val="FBBCB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663440" y="1389888"/>
            <a:ext cx="54864" cy="5486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791456" y="1499616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BBCBC"/>
            </a:solidFill>
            <a:prstDash val="solid"/>
          </a:ln>
        </p:spPr>
      </p:sp>
      <p:pic>
        <p:nvPicPr>
          <p:cNvPr id="5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8032" y="1536192"/>
            <a:ext cx="237744" cy="237744"/>
          </a:xfrm>
          <a:prstGeom prst="rect">
            <a:avLst/>
          </a:prstGeom>
        </p:spPr>
      </p:pic>
      <p:sp>
        <p:nvSpPr>
          <p:cNvPr id="52" name="Text 49"/>
          <p:cNvSpPr/>
          <p:nvPr/>
        </p:nvSpPr>
        <p:spPr>
          <a:xfrm>
            <a:off x="5193792" y="14447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Boundary Blurring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 50"/>
          <p:cNvSpPr/>
          <p:nvPr/>
        </p:nvSpPr>
        <p:spPr>
          <a:xfrm>
            <a:off x="5193792" y="16824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Noise hides the exact tumor shape at boundaries.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4" name="Shape 51"/>
          <p:cNvSpPr/>
          <p:nvPr/>
        </p:nvSpPr>
        <p:spPr>
          <a:xfrm>
            <a:off x="4681728" y="2121408"/>
            <a:ext cx="4169664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4663440" y="2084832"/>
            <a:ext cx="4169664" cy="548640"/>
          </a:xfrm>
          <a:prstGeom prst="rect">
            <a:avLst/>
          </a:prstGeom>
          <a:solidFill>
            <a:srgbClr val="FFF7ED"/>
          </a:solidFill>
          <a:ln w="12700">
            <a:solidFill>
              <a:srgbClr val="FDCF9A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663440" y="2084832"/>
            <a:ext cx="54864" cy="5486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4791456" y="2194560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CF9A"/>
            </a:solidFill>
            <a:prstDash val="solid"/>
          </a:ln>
        </p:spPr>
      </p:sp>
      <p:pic>
        <p:nvPicPr>
          <p:cNvPr id="5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2231136"/>
            <a:ext cx="237744" cy="237744"/>
          </a:xfrm>
          <a:prstGeom prst="rect">
            <a:avLst/>
          </a:prstGeom>
        </p:spPr>
      </p:pic>
      <p:sp>
        <p:nvSpPr>
          <p:cNvPr id="59" name="Text 55"/>
          <p:cNvSpPr/>
          <p:nvPr/>
        </p:nvSpPr>
        <p:spPr>
          <a:xfrm>
            <a:off x="5193792" y="213969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35400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Feature Loss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 56"/>
          <p:cNvSpPr/>
          <p:nvPr/>
        </p:nvSpPr>
        <p:spPr>
          <a:xfrm>
            <a:off x="5193792" y="23774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Important texture details disappear under noise.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Shape 57"/>
          <p:cNvSpPr/>
          <p:nvPr/>
        </p:nvSpPr>
        <p:spPr>
          <a:xfrm>
            <a:off x="4681728" y="2816352"/>
            <a:ext cx="4169664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4663440" y="2779776"/>
            <a:ext cx="4169664" cy="548640"/>
          </a:xfrm>
          <a:prstGeom prst="rect">
            <a:avLst/>
          </a:prstGeom>
          <a:solidFill>
            <a:srgbClr val="FEFCE8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4663440" y="2779776"/>
            <a:ext cx="54864" cy="548640"/>
          </a:xfrm>
          <a:prstGeom prst="rect">
            <a:avLst/>
          </a:prstGeom>
          <a:solidFill>
            <a:srgbClr val="B7770D"/>
          </a:solidFill>
          <a:ln w="12700">
            <a:solidFill>
              <a:srgbClr val="B7770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4791456" y="2889504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DE68A"/>
            </a:solidFill>
            <a:prstDash val="solid"/>
          </a:ln>
        </p:spPr>
      </p:sp>
      <p:pic>
        <p:nvPicPr>
          <p:cNvPr id="6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8032" y="2926080"/>
            <a:ext cx="237744" cy="237744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5193792" y="283464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7770D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System Instability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 62"/>
          <p:cNvSpPr/>
          <p:nvPr/>
        </p:nvSpPr>
        <p:spPr>
          <a:xfrm>
            <a:off x="5193792" y="30723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model gives different results across different scanners.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Shape 63"/>
          <p:cNvSpPr/>
          <p:nvPr/>
        </p:nvSpPr>
        <p:spPr>
          <a:xfrm>
            <a:off x="4681728" y="3511296"/>
            <a:ext cx="4169664" cy="5486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4663440" y="3474720"/>
            <a:ext cx="4169664" cy="548640"/>
          </a:xfrm>
          <a:prstGeom prst="rect">
            <a:avLst/>
          </a:prstGeom>
          <a:solidFill>
            <a:srgbClr val="FAF0FF"/>
          </a:solidFill>
          <a:ln w="12700">
            <a:solidFill>
              <a:srgbClr val="DDB8F0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4663440" y="3474720"/>
            <a:ext cx="54864" cy="548640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</p:sp>
      <p:sp>
        <p:nvSpPr>
          <p:cNvPr id="71" name="Shape 66"/>
          <p:cNvSpPr/>
          <p:nvPr/>
        </p:nvSpPr>
        <p:spPr>
          <a:xfrm>
            <a:off x="4791456" y="3584448"/>
            <a:ext cx="310896" cy="3108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DDB8F0"/>
            </a:solidFill>
            <a:prstDash val="solid"/>
          </a:ln>
        </p:spPr>
      </p:sp>
      <p:pic>
        <p:nvPicPr>
          <p:cNvPr id="7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8032" y="3621024"/>
            <a:ext cx="237744" cy="237744"/>
          </a:xfrm>
          <a:prstGeom prst="rect">
            <a:avLst/>
          </a:prstGeom>
        </p:spPr>
      </p:pic>
      <p:sp>
        <p:nvSpPr>
          <p:cNvPr id="73" name="Text 67"/>
          <p:cNvSpPr/>
          <p:nvPr/>
        </p:nvSpPr>
        <p:spPr>
          <a:xfrm>
            <a:off x="5193792" y="352958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2D8B"/>
                </a:solidFill>
                <a:latin typeface="Times New Roman" panose="02020603050405020304" pitchFamily="18" charset="0"/>
                <a:ea typeface="Cambria" pitchFamily="34" charset="-122"/>
                <a:cs typeface="Times New Roman" panose="02020603050405020304" pitchFamily="18" charset="0"/>
              </a:rPr>
              <a:t>Accuracy Ceiling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Text 68"/>
          <p:cNvSpPr/>
          <p:nvPr/>
        </p:nvSpPr>
        <p:spPr>
          <a:xfrm>
            <a:off x="5193792" y="376732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B5563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Noisy input permanently limits classification performance.</a:t>
            </a:r>
            <a:endParaRPr lang="en-US" sz="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8680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54864" cy="23774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60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DUAL-BRANCH COMPARATIVE PIPELINE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3246120" y="1353312"/>
            <a:ext cx="2651760" cy="502920"/>
          </a:xfrm>
          <a:prstGeom prst="rect">
            <a:avLst/>
          </a:prstGeom>
          <a:solidFill>
            <a:srgbClr val="EEF4FF"/>
          </a:solidFill>
          <a:ln w="19050">
            <a:solidFill>
              <a:srgbClr val="1B4F8A"/>
            </a:solidFill>
            <a:prstDash val="solid"/>
          </a:ln>
          <a:effectLst>
            <a:outerShdw blurRad="50800" dist="25400" dir="81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353312"/>
            <a:ext cx="64008" cy="5029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371600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SHARED INPUT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383280" y="1536192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Raw Noisy MRI Scans (Clinical)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005072" y="1856232"/>
            <a:ext cx="0" cy="201168"/>
          </a:xfrm>
          <a:prstGeom prst="line">
            <a:avLst/>
          </a:prstGeom>
          <a:noFill/>
          <a:ln w="19050">
            <a:solidFill>
              <a:srgbClr val="1B4F8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645920" y="2057400"/>
            <a:ext cx="2359152" cy="0"/>
          </a:xfrm>
          <a:prstGeom prst="line">
            <a:avLst/>
          </a:prstGeom>
          <a:noFill/>
          <a:ln w="19050">
            <a:solidFill>
              <a:srgbClr val="1B4F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645920" y="2057400"/>
            <a:ext cx="0" cy="182880"/>
          </a:xfrm>
          <a:prstGeom prst="line">
            <a:avLst/>
          </a:prstGeom>
          <a:noFill/>
          <a:ln w="19050">
            <a:solidFill>
              <a:srgbClr val="1B4F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38928" y="1856232"/>
            <a:ext cx="0" cy="201168"/>
          </a:xfrm>
          <a:prstGeom prst="line">
            <a:avLst/>
          </a:prstGeom>
          <a:noFill/>
          <a:ln w="19050">
            <a:solidFill>
              <a:srgbClr val="007A5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38928" y="2057400"/>
            <a:ext cx="2359152" cy="0"/>
          </a:xfrm>
          <a:prstGeom prst="line">
            <a:avLst/>
          </a:prstGeom>
          <a:noFill/>
          <a:ln w="19050">
            <a:solidFill>
              <a:srgbClr val="007A5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057400"/>
            <a:ext cx="0" cy="182880"/>
          </a:xfrm>
          <a:prstGeom prst="line">
            <a:avLst/>
          </a:prstGeom>
          <a:noFill/>
          <a:ln w="19050">
            <a:solidFill>
              <a:srgbClr val="007A5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2231136"/>
            <a:ext cx="2743200" cy="292608"/>
          </a:xfrm>
          <a:prstGeom prst="rect">
            <a:avLst/>
          </a:prstGeom>
          <a:solidFill>
            <a:srgbClr val="DBEAFE"/>
          </a:solidFill>
          <a:ln w="15240">
            <a:solidFill>
              <a:srgbClr val="1B4F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231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BRANCH A: BASELINE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126480" y="2231136"/>
            <a:ext cx="2743200" cy="292608"/>
          </a:xfrm>
          <a:prstGeom prst="rect">
            <a:avLst/>
          </a:prstGeom>
          <a:solidFill>
            <a:srgbClr val="D1FAF0"/>
          </a:solidFill>
          <a:ln w="15240">
            <a:solidFill>
              <a:srgbClr val="007A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223113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00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BRANCH B: ENHANCED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301752" y="2660904"/>
            <a:ext cx="2743200" cy="530352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74320" y="2633472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2633472"/>
            <a:ext cx="54864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" y="267919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CLASSIFIER</a:t>
            </a:r>
            <a:endParaRPr lang="en-US" sz="1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02336" y="2834640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EfficientNet-B0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402336" y="2999232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ImageNet pretrained (IMAGENET1K_V1)</a:t>
            </a:r>
            <a:endParaRPr lang="en-US" sz="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645920" y="3163824"/>
            <a:ext cx="0" cy="137160"/>
          </a:xfrm>
          <a:prstGeom prst="line">
            <a:avLst/>
          </a:prstGeom>
          <a:noFill/>
          <a:ln w="19050">
            <a:solidFill>
              <a:srgbClr val="1B4F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1752" y="3282696"/>
            <a:ext cx="2743200" cy="530352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255264"/>
            <a:ext cx="274320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74320" y="3255264"/>
            <a:ext cx="54864" cy="53035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2336" y="330098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02336" y="3456432"/>
            <a:ext cx="2542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 Accuracy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153912" y="2660904"/>
            <a:ext cx="2743200" cy="475488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26480" y="263347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6EE7C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126480" y="2633472"/>
            <a:ext cx="54864" cy="475488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54496" y="2670048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ENHANCEMENT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6254496" y="281635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Fast-DDPM Denoiser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254496" y="2971800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50-step generative restoration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498080" y="3108960"/>
            <a:ext cx="0" cy="109728"/>
          </a:xfrm>
          <a:prstGeom prst="line">
            <a:avLst/>
          </a:prstGeom>
          <a:noFill/>
          <a:ln w="19050">
            <a:solidFill>
              <a:srgbClr val="007A5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53912" y="3246120"/>
            <a:ext cx="2743200" cy="475488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26480" y="3218688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126480" y="3218688"/>
            <a:ext cx="54864" cy="47548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54496" y="3255264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254496" y="3401568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EfficientNet-B0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254496" y="3557016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checkpoint as Branch A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7498080" y="3694176"/>
            <a:ext cx="0" cy="109728"/>
          </a:xfrm>
          <a:prstGeom prst="line">
            <a:avLst/>
          </a:prstGeom>
          <a:noFill/>
          <a:ln w="19050">
            <a:solidFill>
              <a:srgbClr val="1B4F8A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53912" y="3831336"/>
            <a:ext cx="2743200" cy="475488"/>
          </a:xfrm>
          <a:prstGeom prst="rect">
            <a:avLst/>
          </a:prstGeom>
          <a:solidFill>
            <a:srgbClr val="E2EBF5"/>
          </a:solidFill>
          <a:ln w="12700">
            <a:solidFill>
              <a:srgbClr val="E2EB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26480" y="3803904"/>
            <a:ext cx="54864" cy="475488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254496" y="3840480"/>
            <a:ext cx="2542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0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OUTPUT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254496" y="3986784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A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Enhanced Accuracy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254496" y="4142232"/>
            <a:ext cx="2542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4224528" y="2871216"/>
            <a:ext cx="512064" cy="512064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224528" y="2871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VS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3749040" y="3493008"/>
            <a:ext cx="1463040" cy="749808"/>
          </a:xfrm>
          <a:prstGeom prst="rect">
            <a:avLst/>
          </a:prstGeom>
          <a:solidFill>
            <a:srgbClr val="FFFBEB"/>
          </a:solidFill>
          <a:ln w="25400">
            <a:solidFill>
              <a:srgbClr val="F59E0B"/>
            </a:solidFill>
            <a:prstDash val="solid"/>
          </a:ln>
          <a:effectLst>
            <a:outerShdw blurRad="50800" dist="25400" dir="8100000" algn="bl" rotWithShape="0">
              <a:srgbClr val="94A3B8">
                <a:alpha val="15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3785616" y="3749040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B4530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No model changes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274320" y="4279392"/>
            <a:ext cx="3474720" cy="438912"/>
          </a:xfrm>
          <a:prstGeom prst="rect">
            <a:avLst/>
          </a:prstGeom>
          <a:solidFill>
            <a:srgbClr val="EEF4FF"/>
          </a:solidFill>
          <a:ln w="12700">
            <a:solidFill>
              <a:srgbClr val="B8CD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274320" y="4279392"/>
            <a:ext cx="54864" cy="438912"/>
          </a:xfrm>
          <a:prstGeom prst="rect">
            <a:avLst/>
          </a:prstGeom>
          <a:solidFill>
            <a:srgbClr val="94B4D4"/>
          </a:solidFill>
          <a:ln w="12700">
            <a:solidFill>
              <a:srgbClr val="94B4D4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02336" y="42976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1B4F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Key Insight: </a:t>
            </a:r>
            <a:r>
              <a:rPr lang="en-US" sz="850" i="1" dirty="0">
                <a:solidFill>
                  <a:srgbClr val="4A6A8A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classifier checkpoint — accuracy gain is purely from Fast-DDPM preprocessing.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5394960" y="4279392"/>
            <a:ext cx="3474720" cy="438912"/>
          </a:xfrm>
          <a:prstGeom prst="rect">
            <a:avLst/>
          </a:prstGeom>
          <a:solidFill>
            <a:srgbClr val="F0FDF4"/>
          </a:solidFill>
          <a:ln w="12700">
            <a:solidFill>
              <a:srgbClr val="6EE7CE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5394960" y="4279392"/>
            <a:ext cx="54864" cy="438912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522976" y="4297680"/>
            <a:ext cx="32918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i="1" dirty="0">
                <a:solidFill>
                  <a:srgbClr val="00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Ref: </a:t>
            </a:r>
            <a:r>
              <a:rPr lang="en-US" sz="850" i="1" dirty="0">
                <a:solidFill>
                  <a:srgbClr val="065F4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Dataset: Figshare/Kaggle Brain Tumor MRI — Glioma, Meningioma, Pituitary, No Tumor (4 classes).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chemeClr val="accent1">
                <a:lumMod val="75000"/>
              </a:scheme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kern="0" spc="200" dirty="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Design</a:t>
            </a:r>
            <a:endParaRPr lang="en-US" sz="3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1168" y="841248"/>
            <a:ext cx="1572768" cy="34747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804672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804672"/>
            <a:ext cx="1572768" cy="73152"/>
          </a:xfrm>
          <a:prstGeom prst="rect">
            <a:avLst/>
          </a:prstGeom>
          <a:solidFill>
            <a:srgbClr val="2D82B7"/>
          </a:solidFill>
          <a:ln w="12700">
            <a:solidFill>
              <a:srgbClr val="2D82B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969264"/>
            <a:ext cx="585216" cy="585216"/>
          </a:xfrm>
          <a:prstGeom prst="ellipse">
            <a:avLst/>
          </a:prstGeom>
          <a:solidFill>
            <a:srgbClr val="2D82B7"/>
          </a:solidFill>
          <a:ln w="12700">
            <a:solidFill>
              <a:srgbClr val="2D82B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9692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37744" y="16642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D82B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Dataset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37744" y="197510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A4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Input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347472" y="2286000"/>
            <a:ext cx="1207008" cy="2286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" y="240487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Brain Tumor MRI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56032" y="275234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Figshare / Kaggle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56032" y="309981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4 Classes: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56032" y="344728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Glioma · Meningioma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56032" y="37947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Pituitary · No Tumor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1755648" y="2496312"/>
            <a:ext cx="91440" cy="91440"/>
          </a:xfrm>
          <a:prstGeom prst="rect">
            <a:avLst/>
          </a:prstGeom>
          <a:solidFill>
            <a:srgbClr val="2D82B7"/>
          </a:solidFill>
          <a:ln w="12700">
            <a:solidFill>
              <a:srgbClr val="2D82B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11096" y="841248"/>
            <a:ext cx="1572768" cy="34747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74520" y="804672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74520" y="804672"/>
            <a:ext cx="1572768" cy="73152"/>
          </a:xfrm>
          <a:prstGeom prst="rect">
            <a:avLst/>
          </a:prstGeom>
          <a:solidFill>
            <a:srgbClr val="5B7FD4"/>
          </a:solidFill>
          <a:ln w="12700">
            <a:solidFill>
              <a:srgbClr val="5B7F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368296" y="969264"/>
            <a:ext cx="585216" cy="585216"/>
          </a:xfrm>
          <a:prstGeom prst="ellipse">
            <a:avLst/>
          </a:prstGeom>
          <a:solidFill>
            <a:srgbClr val="5B7FD4"/>
          </a:solidFill>
          <a:ln w="12700">
            <a:solidFill>
              <a:srgbClr val="5B7FD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68296" y="9692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947672" y="16642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5B7FD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Baseline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1947672" y="197510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4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057400" y="2286000"/>
            <a:ext cx="1207008" cy="2286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65960" y="240487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EfficientNet-B0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1965960" y="275234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ImageNet weights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1965960" y="309981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Linear(1280→4)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1965960" y="344728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Adam lr=1e-4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1965960" y="37947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32 batch · 5 epochs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465576" y="2496312"/>
            <a:ext cx="91440" cy="91440"/>
          </a:xfrm>
          <a:prstGeom prst="rect">
            <a:avLst/>
          </a:prstGeom>
          <a:solidFill>
            <a:srgbClr val="5B7FD4"/>
          </a:solidFill>
          <a:ln w="12700">
            <a:solidFill>
              <a:srgbClr val="5B7FD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21024" y="841248"/>
            <a:ext cx="1572768" cy="34747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84448" y="804672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84448" y="804672"/>
            <a:ext cx="1572768" cy="73152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078224" y="969264"/>
            <a:ext cx="585216" cy="585216"/>
          </a:xfrm>
          <a:prstGeom prst="ellipse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078224" y="9692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3657600" y="16642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C9A7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Fast-DDPM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3657600" y="197510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4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Denoising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3767328" y="2286000"/>
            <a:ext cx="1207008" cy="2286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75888" y="240487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U-Net backbone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3675888" y="275234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1000 fwd → 50 rev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675888" y="309981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Linear β schedule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675888" y="344728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Structural MRI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3675888" y="37947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restoration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175504" y="2496312"/>
            <a:ext cx="91440" cy="91440"/>
          </a:xfrm>
          <a:prstGeom prst="rect">
            <a:avLst/>
          </a:prstGeom>
          <a:solidFill>
            <a:srgbClr val="00C9A7"/>
          </a:solidFill>
          <a:ln w="12700">
            <a:solidFill>
              <a:srgbClr val="00C9A7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330952" y="841248"/>
            <a:ext cx="1572768" cy="34747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294376" y="804672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294376" y="804672"/>
            <a:ext cx="1572768" cy="73152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788152" y="969264"/>
            <a:ext cx="585216" cy="585216"/>
          </a:xfrm>
          <a:prstGeom prst="ellipse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788152" y="9692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5367528" y="16642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845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Enhanced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5367528" y="197510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4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Classification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477256" y="2286000"/>
            <a:ext cx="1207008" cy="2286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385816" y="240487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Same EfficientNet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385816" y="275234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Clean MRI input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385816" y="309981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Preserved tumor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5385816" y="344728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boundaries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385816" y="37947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&amp; texture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6885432" y="2496312"/>
            <a:ext cx="91440" cy="91440"/>
          </a:xfrm>
          <a:prstGeom prst="rect">
            <a:avLst/>
          </a:prstGeom>
          <a:solidFill>
            <a:srgbClr val="F4845F"/>
          </a:solidFill>
          <a:ln w="12700">
            <a:solidFill>
              <a:srgbClr val="F4845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040880" y="841248"/>
            <a:ext cx="1572768" cy="3474720"/>
          </a:xfrm>
          <a:prstGeom prst="rect">
            <a:avLst/>
          </a:prstGeom>
          <a:solidFill>
            <a:srgbClr val="C8D4E0"/>
          </a:solidFill>
          <a:ln w="12700">
            <a:solidFill>
              <a:srgbClr val="C8D4E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004304" y="804672"/>
            <a:ext cx="1572768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AF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004304" y="804672"/>
            <a:ext cx="1572768" cy="73152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498080" y="969264"/>
            <a:ext cx="585216" cy="585216"/>
          </a:xfrm>
          <a:prstGeom prst="ellipse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498080" y="969264"/>
            <a:ext cx="58521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65" name="Text 63"/>
          <p:cNvSpPr/>
          <p:nvPr/>
        </p:nvSpPr>
        <p:spPr>
          <a:xfrm>
            <a:off x="7077456" y="1664208"/>
            <a:ext cx="142646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8A83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Accuracy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7077456" y="1975104"/>
            <a:ext cx="142646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A4BB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Shape 65"/>
          <p:cNvSpPr/>
          <p:nvPr/>
        </p:nvSpPr>
        <p:spPr>
          <a:xfrm>
            <a:off x="7187184" y="2286000"/>
            <a:ext cx="1207008" cy="22860"/>
          </a:xfrm>
          <a:prstGeom prst="rect">
            <a:avLst/>
          </a:prstGeom>
          <a:solidFill>
            <a:srgbClr val="E0EAF4"/>
          </a:solidFill>
          <a:ln w="12700">
            <a:solidFill>
              <a:srgbClr val="E0EAF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095744" y="2404872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Branch 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 67"/>
          <p:cNvSpPr/>
          <p:nvPr/>
        </p:nvSpPr>
        <p:spPr>
          <a:xfrm>
            <a:off x="7095744" y="2752344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Branch B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7095744" y="3099816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 err="1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ΔAcc</a:t>
            </a: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 =(Diff)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7095744" y="3447288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Absolute gain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Text 70"/>
          <p:cNvSpPr/>
          <p:nvPr/>
        </p:nvSpPr>
        <p:spPr>
          <a:xfrm>
            <a:off x="7095744" y="3794760"/>
            <a:ext cx="138988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74B5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 raw noisy MRI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61722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0030" y="0"/>
            <a:ext cx="8641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Implementation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5740" y="685800"/>
            <a:ext cx="48006" cy="42519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7190" y="905256"/>
            <a:ext cx="2194560" cy="192024"/>
          </a:xfrm>
          <a:prstGeom prst="roundRect">
            <a:avLst>
              <a:gd name="adj" fmla="val 14286"/>
            </a:avLst>
          </a:prstGeom>
          <a:solidFill>
            <a:srgbClr val="E6EFF8"/>
          </a:solidFill>
          <a:ln w="9525">
            <a:solidFill>
              <a:srgbClr val="1A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190" y="905256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/>
              <a:t>Branch A: efficientnet_b0_eorginal.py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800600" y="905256"/>
            <a:ext cx="2194560" cy="192024"/>
          </a:xfrm>
          <a:prstGeom prst="roundRect">
            <a:avLst>
              <a:gd name="adj" fmla="val 14286"/>
            </a:avLst>
          </a:prstGeom>
          <a:solidFill>
            <a:srgbClr val="E0F4E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05256"/>
            <a:ext cx="2194560" cy="260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750" b="1" dirty="0"/>
              <a:t>                </a:t>
            </a:r>
            <a:r>
              <a:rPr lang="en-US" sz="825" b="1" dirty="0"/>
              <a:t>Branch B: efficientnet_b0_enhanced.py</a:t>
            </a:r>
            <a:endParaRPr lang="en-IN" sz="825" dirty="0"/>
          </a:p>
        </p:txBody>
      </p:sp>
      <p:sp>
        <p:nvSpPr>
          <p:cNvPr id="11" name="Shape 9"/>
          <p:cNvSpPr/>
          <p:nvPr/>
        </p:nvSpPr>
        <p:spPr>
          <a:xfrm>
            <a:off x="342900" y="1097280"/>
            <a:ext cx="4114800" cy="373761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66310" y="1097280"/>
            <a:ext cx="4114800" cy="373761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165860"/>
            <a:ext cx="4046220" cy="366903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C6EEF6C-9DED-7FDC-3B3F-2E7DD3A675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30141"/>
            <a:ext cx="4043363" cy="36718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21140" cy="61722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40030" y="0"/>
            <a:ext cx="864108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b="1" dirty="0">
                <a:solidFill>
                  <a:srgbClr val="FFFFFF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Implementation — Extended Training Pipeline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05740" y="685800"/>
            <a:ext cx="48006" cy="4251960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77190" y="685800"/>
            <a:ext cx="3977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1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main_diet.py  (Original dataset — 300 epochs)</a:t>
            </a:r>
            <a:endParaRPr lang="en-US" sz="825" dirty="0"/>
          </a:p>
        </p:txBody>
      </p:sp>
      <p:sp>
        <p:nvSpPr>
          <p:cNvPr id="6" name="Text 4"/>
          <p:cNvSpPr/>
          <p:nvPr/>
        </p:nvSpPr>
        <p:spPr>
          <a:xfrm>
            <a:off x="4800600" y="685800"/>
            <a:ext cx="39776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25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main_diet_enhanced.py  (Enhanced dataset — 250 epochs)</a:t>
            </a:r>
            <a:endParaRPr lang="en-US" sz="825" dirty="0"/>
          </a:p>
        </p:txBody>
      </p:sp>
      <p:sp>
        <p:nvSpPr>
          <p:cNvPr id="7" name="Shape 5"/>
          <p:cNvSpPr/>
          <p:nvPr/>
        </p:nvSpPr>
        <p:spPr>
          <a:xfrm>
            <a:off x="377190" y="905256"/>
            <a:ext cx="2194560" cy="192024"/>
          </a:xfrm>
          <a:prstGeom prst="roundRect">
            <a:avLst>
              <a:gd name="adj" fmla="val 14286"/>
            </a:avLst>
          </a:prstGeom>
          <a:solidFill>
            <a:srgbClr val="E6EFF8"/>
          </a:solidFill>
          <a:ln w="9525">
            <a:solidFill>
              <a:srgbClr val="1A5F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7190" y="905256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1A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main_diet.py  (Original)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800600" y="905256"/>
            <a:ext cx="2194560" cy="192024"/>
          </a:xfrm>
          <a:prstGeom prst="roundRect">
            <a:avLst>
              <a:gd name="adj" fmla="val 14286"/>
            </a:avLst>
          </a:prstGeom>
          <a:solidFill>
            <a:srgbClr val="E0F4EF"/>
          </a:solidFill>
          <a:ln w="9525">
            <a:solidFill>
              <a:srgbClr val="0F6E5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00600" y="905256"/>
            <a:ext cx="2194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750" b="1" dirty="0">
                <a:solidFill>
                  <a:srgbClr val="0F6E5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main_diet_enhanced.py  (Enhanced)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42900" y="1097280"/>
            <a:ext cx="4114800" cy="373761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190" y="1131570"/>
            <a:ext cx="4046220" cy="366903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766310" y="1097280"/>
            <a:ext cx="4114800" cy="3737610"/>
          </a:xfrm>
          <a:prstGeom prst="rect">
            <a:avLst/>
          </a:prstGeom>
          <a:solidFill>
            <a:srgbClr val="1E1E2E"/>
          </a:solidFill>
          <a:ln w="6350">
            <a:solidFill>
              <a:srgbClr val="333355"/>
            </a:solidFill>
            <a:prstDash val="solid"/>
          </a:ln>
          <a:effectLst>
            <a:outerShdw blurRad="76200" dist="254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131570"/>
            <a:ext cx="4046220" cy="36690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 &amp; Outputs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060704"/>
            <a:ext cx="54864" cy="237744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2336" y="1060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EXECUTION LOGS &amp; 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4319" y="1371600"/>
            <a:ext cx="5878974" cy="3441032"/>
          </a:xfrm>
          <a:prstGeom prst="rect">
            <a:avLst/>
          </a:prstGeom>
          <a:solidFill>
            <a:srgbClr val="0A0E1A"/>
          </a:solidFill>
          <a:ln w="15240">
            <a:solidFill>
              <a:srgbClr val="1E3A5F"/>
            </a:solidFill>
            <a:prstDash val="solid"/>
          </a:ln>
          <a:effectLst>
            <a:outerShdw blurRad="50800" dist="25400" dir="8100000" algn="bl" rotWithShape="0">
              <a:srgbClr val="94A3B8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1371600"/>
            <a:ext cx="5029200" cy="2743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38074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— Training &amp; Evaluation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0624" y="170078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train_pipeline.py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20624" y="1810512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20624" y="1920240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ABD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Loading Brain Tumor MRI Dataset...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20624" y="202996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Classes: Glioma | Meningioma | Pituitary | No Tumor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Text 15"/>
          <p:cNvSpPr/>
          <p:nvPr/>
        </p:nvSpPr>
        <p:spPr>
          <a:xfrm>
            <a:off x="420624" y="2139696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Train: 5712 images   Val: 1311 images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20624" y="224942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20624" y="2359152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5AAD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BRANCH A: Baseline (Raw MRI) ===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20624" y="2468880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[1/5]  Loss: 1.2841  Acc: 48.32%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24" y="257860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[2/5]  Loss: 0.9234  Acc: 57.61%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0624" y="2688336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[3/5]  Loss: 0.7612  Acc: 61.18%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0624" y="279806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[4/5]  Loss: 0.6881  Acc: 63.44%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0624" y="2907792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DE6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[5/5]  Loss: 0.6204  Acc: 65.03%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20624" y="3017520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Branch A Final Accuracy: 63.73%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20624" y="312724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0624" y="3236976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 BRANCH B: Fast-DDPM Enhanced ===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20624" y="334670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Applying Fast-DDPM denoiser (50 steps)...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20624" y="3456432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[1/5]  Loss: 1.0341  Acc: 55.72%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0624" y="3566160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[2/5]  Loss: 0.7923  Acc: 63.80%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20624" y="367588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[3/5]  Loss: 0.6214  Acc: 68.41%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20624" y="3785616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[4/5]  Loss: 0.5502  Acc: 70.93%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0624" y="389534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7F3D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[5/5]  Loss: 0.4988  Acc: 72.80%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0624" y="4005072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 Branch B Final Accuracy: 76.17%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20624" y="4114800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20624" y="422452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ΔAcc = +12.44 pp  |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20624" y="4334256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EE7C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changes to classifier architecture.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63F0-751D-3E10-39F9-AEF1DA611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FCA93C4-7AC8-B0ED-BA6C-1DC113CDE48D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DD5DFAC-2186-B225-7F06-3D08CF52390F}"/>
              </a:ext>
            </a:extLst>
          </p:cNvPr>
          <p:cNvSpPr/>
          <p:nvPr/>
        </p:nvSpPr>
        <p:spPr>
          <a:xfrm>
            <a:off x="41148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Execution &amp; Outputs</a:t>
            </a:r>
            <a:endParaRPr lang="en-US" sz="28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504F4CA9-4F26-86D8-87AE-E0C56D6A659C}"/>
              </a:ext>
            </a:extLst>
          </p:cNvPr>
          <p:cNvSpPr/>
          <p:nvPr/>
        </p:nvSpPr>
        <p:spPr>
          <a:xfrm>
            <a:off x="868680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5A8386D-6295-3873-0C5B-D5232D67333C}"/>
              </a:ext>
            </a:extLst>
          </p:cNvPr>
          <p:cNvSpPr/>
          <p:nvPr/>
        </p:nvSpPr>
        <p:spPr>
          <a:xfrm>
            <a:off x="274320" y="1060704"/>
            <a:ext cx="54864" cy="237744"/>
          </a:xfrm>
          <a:prstGeom prst="rect">
            <a:avLst/>
          </a:prstGeom>
          <a:solidFill>
            <a:srgbClr val="007A5E"/>
          </a:solidFill>
          <a:ln w="12700">
            <a:solidFill>
              <a:srgbClr val="007A5E"/>
            </a:solidFill>
            <a:prstDash val="solid"/>
          </a:ln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F9C0807-CC3A-B48D-C405-45CE4940B993}"/>
              </a:ext>
            </a:extLst>
          </p:cNvPr>
          <p:cNvSpPr/>
          <p:nvPr/>
        </p:nvSpPr>
        <p:spPr>
          <a:xfrm>
            <a:off x="402336" y="1060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07A5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EXECUTION LOGS &amp; RESULTS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2F3EADB3-1695-C933-4BD3-6DA5B88CE635}"/>
              </a:ext>
            </a:extLst>
          </p:cNvPr>
          <p:cNvSpPr/>
          <p:nvPr/>
        </p:nvSpPr>
        <p:spPr>
          <a:xfrm>
            <a:off x="274320" y="1371600"/>
            <a:ext cx="2764513" cy="194224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BC04EB3-55B4-A6F9-0571-B5A52494EECA}"/>
              </a:ext>
            </a:extLst>
          </p:cNvPr>
          <p:cNvSpPr/>
          <p:nvPr/>
        </p:nvSpPr>
        <p:spPr>
          <a:xfrm>
            <a:off x="438912" y="138074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— Training &amp; Evaluation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2594BEE-F2E1-B850-590A-2CA8BADD5DE3}"/>
              </a:ext>
            </a:extLst>
          </p:cNvPr>
          <p:cNvSpPr/>
          <p:nvPr/>
        </p:nvSpPr>
        <p:spPr>
          <a:xfrm>
            <a:off x="420624" y="170078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train_pipeline.py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80728BA-4D41-6BC9-1A71-6010614C53D5}"/>
              </a:ext>
            </a:extLst>
          </p:cNvPr>
          <p:cNvSpPr/>
          <p:nvPr/>
        </p:nvSpPr>
        <p:spPr>
          <a:xfrm>
            <a:off x="420624" y="1810512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9FFCE8DE-6489-0F35-C03B-B4026FC68FD6}"/>
              </a:ext>
            </a:extLst>
          </p:cNvPr>
          <p:cNvSpPr/>
          <p:nvPr/>
        </p:nvSpPr>
        <p:spPr>
          <a:xfrm>
            <a:off x="420624" y="202996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Classes: Glioma | Meningioma | Pituitary | No Tumor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48560772-4AE6-46F5-0B0F-919693554CCA}"/>
              </a:ext>
            </a:extLst>
          </p:cNvPr>
          <p:cNvSpPr/>
          <p:nvPr/>
        </p:nvSpPr>
        <p:spPr>
          <a:xfrm>
            <a:off x="420624" y="224942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2F3368E-B9E9-CA90-23DF-F384D880822A}"/>
              </a:ext>
            </a:extLst>
          </p:cNvPr>
          <p:cNvSpPr/>
          <p:nvPr/>
        </p:nvSpPr>
        <p:spPr>
          <a:xfrm>
            <a:off x="420624" y="312724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CDFDAC28-286E-2B7E-92C5-AF351EEE5184}"/>
              </a:ext>
            </a:extLst>
          </p:cNvPr>
          <p:cNvSpPr/>
          <p:nvPr/>
        </p:nvSpPr>
        <p:spPr>
          <a:xfrm>
            <a:off x="420624" y="4114800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7866FA7E-F3A2-0548-791F-2340696357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1601" y="1673833"/>
            <a:ext cx="4138079" cy="3186443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4227DA1C-C9CC-4EE1-5471-20D56A123D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1673833"/>
            <a:ext cx="4084962" cy="3144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786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DFC698-4991-9B72-357E-B72B4D3E33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CCF9A0-D6D2-97DD-5A52-6EFBE5338A7B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FEB6E6F-A85D-D276-98D2-224BB12BF332}"/>
              </a:ext>
            </a:extLst>
          </p:cNvPr>
          <p:cNvSpPr/>
          <p:nvPr/>
        </p:nvSpPr>
        <p:spPr>
          <a:xfrm>
            <a:off x="411480" y="91440"/>
            <a:ext cx="7772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800" b="1" kern="0" spc="200">
                <a:solidFill>
                  <a:schemeClr val="bg1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RESULTS &amp; ACCURACY COMPARISON</a:t>
            </a:r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BFB09D8-9484-19F5-0877-DAD8758227A4}"/>
              </a:ext>
            </a:extLst>
          </p:cNvPr>
          <p:cNvSpPr/>
          <p:nvPr/>
        </p:nvSpPr>
        <p:spPr>
          <a:xfrm>
            <a:off x="8686800" y="2743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6DB5B5F6-C81D-46BB-3321-7F33F3CDF138}"/>
              </a:ext>
            </a:extLst>
          </p:cNvPr>
          <p:cNvSpPr/>
          <p:nvPr/>
        </p:nvSpPr>
        <p:spPr>
          <a:xfrm>
            <a:off x="402336" y="1060704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D3472D8-1537-D8A8-028E-98A74FEC70D5}"/>
              </a:ext>
            </a:extLst>
          </p:cNvPr>
          <p:cNvSpPr/>
          <p:nvPr/>
        </p:nvSpPr>
        <p:spPr>
          <a:xfrm>
            <a:off x="438912" y="1380744"/>
            <a:ext cx="4681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Output — Training &amp; Evaluation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27C1B09E-2871-63C6-7DA2-0256E573D027}"/>
              </a:ext>
            </a:extLst>
          </p:cNvPr>
          <p:cNvSpPr/>
          <p:nvPr/>
        </p:nvSpPr>
        <p:spPr>
          <a:xfrm>
            <a:off x="420624" y="170078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python train_pipeline.py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E1022F4A-AED8-70D1-51C9-CBC413EEF5C6}"/>
              </a:ext>
            </a:extLst>
          </p:cNvPr>
          <p:cNvSpPr/>
          <p:nvPr/>
        </p:nvSpPr>
        <p:spPr>
          <a:xfrm>
            <a:off x="420624" y="1810512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8D02E1E-DD49-D859-E718-FD15244FEAC0}"/>
              </a:ext>
            </a:extLst>
          </p:cNvPr>
          <p:cNvSpPr/>
          <p:nvPr/>
        </p:nvSpPr>
        <p:spPr>
          <a:xfrm>
            <a:off x="420624" y="202996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ACC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</a:t>
            </a:r>
            <a:r>
              <a:rPr lang="en-US" sz="8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Classes: Glioma | Meningioma | Pituitary | No Tumor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25D3C651-2580-EDBB-B5F6-7AECCA8A3739}"/>
              </a:ext>
            </a:extLst>
          </p:cNvPr>
          <p:cNvSpPr/>
          <p:nvPr/>
        </p:nvSpPr>
        <p:spPr>
          <a:xfrm>
            <a:off x="420624" y="2249424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8DCF765E-B380-603D-A8F8-5DAE5712C0C7}"/>
              </a:ext>
            </a:extLst>
          </p:cNvPr>
          <p:cNvSpPr/>
          <p:nvPr/>
        </p:nvSpPr>
        <p:spPr>
          <a:xfrm>
            <a:off x="420624" y="3127248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B06021AF-F0B0-F554-F3EA-D7D5D597D3C4}"/>
              </a:ext>
            </a:extLst>
          </p:cNvPr>
          <p:cNvSpPr/>
          <p:nvPr/>
        </p:nvSpPr>
        <p:spPr>
          <a:xfrm>
            <a:off x="420624" y="4114800"/>
            <a:ext cx="482803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407015-6632-31F5-BC67-C0CDE172D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" y="1599306"/>
            <a:ext cx="2792289" cy="143265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A0BDE20-C586-0FF9-1A2D-D06C1500F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7044" y="1380744"/>
            <a:ext cx="4970970" cy="3536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63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Planning and Teamwork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28600" y="914400"/>
            <a:ext cx="54864" cy="34747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60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72C4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Task Allocation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36576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17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Team Member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920240" y="14173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Primary Responsibility</a:t>
            </a: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" y="176479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D.BHAGAVATH GEETHA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920240" y="1764792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Workflow design, Fast-DDPM implementation, performance evaluation.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B.JAYA LAKSHMI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100" kern="0" spc="5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TULASI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1920240" y="22860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MRI preprocessing, dataset organization, augmentation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88920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0720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K.VIRENDRA KUMAR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1920240" y="280720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EfficientNet baseline training, post-denoising classification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3657600" cy="0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3284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50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B.NAGA SUMANTH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1920240" y="3328416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System integration, accuracy comparison, visualization</a:t>
            </a:r>
            <a:r>
              <a:rPr lang="en-US" sz="1200" dirty="0">
                <a:solidFill>
                  <a:srgbClr val="404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1417320"/>
            <a:ext cx="3657600" cy="2587752"/>
          </a:xfrm>
          <a:prstGeom prst="rect">
            <a:avLst/>
          </a:prstGeom>
          <a:ln w="6350">
            <a:solidFill>
              <a:srgbClr val="AAAAA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74520" y="1417320"/>
            <a:ext cx="0" cy="2587752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9601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4472C4"/>
                </a:solidFill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Project Timeline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754880" y="1435608"/>
            <a:ext cx="292608" cy="292608"/>
          </a:xfrm>
          <a:prstGeom prst="ellipse">
            <a:avLst/>
          </a:prstGeom>
          <a:solidFill>
            <a:srgbClr val="E8E8E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141732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Phase-1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166360" y="167335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Literature survey, data collection, and multi-institutional dataset curation.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754880" y="2148840"/>
            <a:ext cx="292608" cy="292608"/>
          </a:xfrm>
          <a:prstGeom prst="ellipse">
            <a:avLst/>
          </a:prstGeom>
          <a:solidFill>
            <a:srgbClr val="E8E8E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66360" y="2130552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Phase-2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166360" y="238658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Fast-DDPM training, denoising optimization, and structural restoration testing.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754880" y="2862072"/>
            <a:ext cx="292608" cy="292608"/>
          </a:xfrm>
          <a:prstGeom prst="ellipse">
            <a:avLst/>
          </a:prstGeom>
          <a:solidFill>
            <a:srgbClr val="E8E8E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166360" y="284378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Phase-3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66360" y="309981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EfficientNet classification development and hybrid system integration.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54880" y="3575304"/>
            <a:ext cx="292608" cy="292608"/>
          </a:xfrm>
          <a:prstGeom prst="ellipse">
            <a:avLst/>
          </a:prstGeom>
          <a:solidFill>
            <a:srgbClr val="E8E8E8"/>
          </a:solidFill>
          <a:ln w="6350">
            <a:solidFill>
              <a:srgbClr val="AAAAA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66360" y="355701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Phase-4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166360" y="3813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04040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Rigorous testing, validation, and final technical report preparation.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Image 1" descr="preencoded.png">
            <a:extLst>
              <a:ext uri="{FF2B5EF4-FFF2-40B4-BE49-F238E27FC236}">
                <a16:creationId xmlns:a16="http://schemas.microsoft.com/office/drawing/2014/main" id="{DAE46540-7D2B-A9C8-9658-1F9F9F6F1D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6887" y="1452097"/>
            <a:ext cx="200025" cy="235744"/>
          </a:xfrm>
          <a:prstGeom prst="rect">
            <a:avLst/>
          </a:prstGeom>
        </p:spPr>
      </p:pic>
      <p:pic>
        <p:nvPicPr>
          <p:cNvPr id="36" name="Image 2" descr="preencoded.png">
            <a:extLst>
              <a:ext uri="{FF2B5EF4-FFF2-40B4-BE49-F238E27FC236}">
                <a16:creationId xmlns:a16="http://schemas.microsoft.com/office/drawing/2014/main" id="{6272F138-1D23-F837-2BC1-4CA611326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6168" y="2168128"/>
            <a:ext cx="250031" cy="235744"/>
          </a:xfrm>
          <a:prstGeom prst="rect">
            <a:avLst/>
          </a:prstGeom>
        </p:spPr>
      </p:pic>
      <p:pic>
        <p:nvPicPr>
          <p:cNvPr id="3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3053" y="2891190"/>
            <a:ext cx="225028" cy="235744"/>
          </a:xfrm>
          <a:prstGeom prst="rect">
            <a:avLst/>
          </a:prstGeom>
        </p:spPr>
      </p:pic>
      <p:pic>
        <p:nvPicPr>
          <p:cNvPr id="38" name="Image 4" descr="preencoded.png">
            <a:extLst>
              <a:ext uri="{FF2B5EF4-FFF2-40B4-BE49-F238E27FC236}">
                <a16:creationId xmlns:a16="http://schemas.microsoft.com/office/drawing/2014/main" id="{A53F2FF3-2637-39F7-2016-1E54EC932CD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1170" y="3595592"/>
            <a:ext cx="200025" cy="23574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8503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73152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5488" y="1344168"/>
            <a:ext cx="548640" cy="54864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34416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43000" y="121615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Denoising Boosts Classification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1563624"/>
            <a:ext cx="7543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Fast-DDPM preprocessing raised EfficientNet-B0 accuracy from 63.73% to 76.17% — a +12.44 pp absolute gain.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2240280"/>
            <a:ext cx="8503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240280"/>
            <a:ext cx="73152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2441448"/>
            <a:ext cx="548640" cy="548640"/>
          </a:xfrm>
          <a:prstGeom prst="ellipse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4414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231343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Architecture Changes Needed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660904"/>
            <a:ext cx="7543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identical model checkpoint, hyperparameters, and training procedure were used in both branches — proving that input quality alone drives the gain.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8503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337560"/>
            <a:ext cx="73152" cy="100584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5488" y="3538728"/>
            <a:ext cx="548640" cy="548640"/>
          </a:xfrm>
          <a:prstGeom prst="ellipse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35387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43000" y="3410712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51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Clinically Deployable Strategy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758184"/>
            <a:ext cx="7543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Fast-DDPM acts as a lightweight preprocessing plug-in, requiring no retraining. It can integrate into existing diagnostic pipelines with minimal overhead.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" y="4315968"/>
            <a:ext cx="8503920" cy="1005840"/>
          </a:xfrm>
          <a:prstGeom prst="rect">
            <a:avLst/>
          </a:prstGeom>
          <a:solidFill>
            <a:srgbClr val="FFFFFF"/>
          </a:solidFill>
          <a:ln w="25400">
            <a:solidFill>
              <a:srgbClr val="6A1B9A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20040" y="4315968"/>
            <a:ext cx="73152" cy="100584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" y="4517136"/>
            <a:ext cx="548640" cy="5486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45171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43000" y="4389120"/>
            <a:ext cx="7543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1B9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Generative Models in Medical AI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4736592"/>
            <a:ext cx="7543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Establishes generative diffusion preprocessing as a viable, effective approach for improving automated brain tumor diagnostic accuracy across scanner types.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C62828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64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" y="1280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C6282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Multi-Scanner Validation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84632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 generalization across multiple MRI scanners and institutions to confirm clinical robustness.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54880" y="1143000"/>
            <a:ext cx="4160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E6510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43000"/>
            <a:ext cx="4160520" cy="64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19472" y="128016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651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Larger Dataset Training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19472" y="173736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Scale to larger, multi-institutional datasets for more robust class-wise performance evaluation.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0040" y="3017520"/>
            <a:ext cx="4160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D32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017520"/>
            <a:ext cx="4160520" cy="640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" y="3154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2E7D3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3D MRI Extension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4632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Extend Fast-DDPM denoising to volumetric 3D MRI scans for richer spatial feature extraction.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754880" y="3017520"/>
            <a:ext cx="4160520" cy="1645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B3A6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017520"/>
            <a:ext cx="4160520" cy="6400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9472" y="31546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3A6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Real-Time Deployment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19472" y="3611880"/>
            <a:ext cx="3886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3333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Optimize inference speed for real-time clinical deployment using model distillation or ONNX export.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33381" y="1773743"/>
            <a:ext cx="4225452" cy="69249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5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dirty="0">
              <a:solidFill>
                <a:schemeClr val="accent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3376904" y="2846882"/>
            <a:ext cx="2138406" cy="38568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3200"/>
              </a:lnSpc>
            </a:pPr>
            <a:r>
              <a:rPr lang="en-US" sz="2592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</a:p>
        </p:txBody>
      </p:sp>
      <p:sp>
        <p:nvSpPr>
          <p:cNvPr id="6" name="Text 2"/>
          <p:cNvSpPr/>
          <p:nvPr/>
        </p:nvSpPr>
        <p:spPr>
          <a:xfrm>
            <a:off x="2997050" y="3427795"/>
            <a:ext cx="3149901" cy="1897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1600"/>
              </a:lnSpc>
            </a:pPr>
            <a:r>
              <a:rPr lang="en-US" sz="1193" b="1" dirty="0">
                <a:solidFill>
                  <a:srgbClr val="33333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Diffusion-Enhanced Brain Tumor Classification</a:t>
            </a:r>
            <a:endParaRPr lang="en-US" sz="1193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3"/>
          <p:cNvSpPr/>
          <p:nvPr/>
        </p:nvSpPr>
        <p:spPr>
          <a:xfrm>
            <a:off x="714375" y="3770114"/>
            <a:ext cx="65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600"/>
              </a:lnSpc>
            </a:pP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714375" y="4484489"/>
            <a:ext cx="65" cy="170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ts val="1400"/>
              </a:lnSpc>
            </a:pP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429562" y="3807619"/>
            <a:ext cx="65" cy="1942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600"/>
              </a:lnSpc>
            </a:pPr>
            <a:endParaRPr lang="en-US" sz="1193" dirty="0"/>
          </a:p>
        </p:txBody>
      </p:sp>
      <p:sp>
        <p:nvSpPr>
          <p:cNvPr id="11" name="Text 7"/>
          <p:cNvSpPr/>
          <p:nvPr/>
        </p:nvSpPr>
        <p:spPr>
          <a:xfrm>
            <a:off x="8429563" y="4241604"/>
            <a:ext cx="64" cy="2299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ts val="1900"/>
              </a:lnSpc>
            </a:pPr>
            <a:endParaRPr lang="en-US" sz="139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1140</TotalTime>
  <Words>1137</Words>
  <Application>Microsoft Office PowerPoint</Application>
  <PresentationFormat>On-screen Show (16:9)</PresentationFormat>
  <Paragraphs>211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Arial</vt:lpstr>
      <vt:lpstr>Calibri</vt:lpstr>
      <vt:lpstr>Cambria</vt:lpstr>
      <vt:lpstr>Consolas</vt:lpstr>
      <vt:lpstr>Courier New</vt:lpstr>
      <vt:lpstr>Georgia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Diffusion-Enhanced Brain Tumor Classification – Final Review</dc:title>
  <dc:subject>PptxGenJS Presentation</dc:subject>
  <dc:creator>PptxGenJS</dc:creator>
  <cp:lastModifiedBy>bhagavath geetha</cp:lastModifiedBy>
  <cp:revision>16</cp:revision>
  <dcterms:created xsi:type="dcterms:W3CDTF">2026-04-01T04:28:09Z</dcterms:created>
  <dcterms:modified xsi:type="dcterms:W3CDTF">2026-04-02T04:58:23Z</dcterms:modified>
</cp:coreProperties>
</file>